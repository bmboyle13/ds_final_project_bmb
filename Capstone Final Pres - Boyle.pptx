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16"/>
  </p:notesMasterIdLst>
  <p:sldIdLst>
    <p:sldId id="258" r:id="rId2"/>
    <p:sldId id="259" r:id="rId3"/>
    <p:sldId id="260" r:id="rId4"/>
    <p:sldId id="261" r:id="rId5"/>
    <p:sldId id="262" r:id="rId6"/>
    <p:sldId id="264" r:id="rId7"/>
    <p:sldId id="267" r:id="rId8"/>
    <p:sldId id="271" r:id="rId9"/>
    <p:sldId id="265" r:id="rId10"/>
    <p:sldId id="270" r:id="rId11"/>
    <p:sldId id="266" r:id="rId12"/>
    <p:sldId id="268" r:id="rId13"/>
    <p:sldId id="269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87269"/>
  </p:normalViewPr>
  <p:slideViewPr>
    <p:cSldViewPr snapToGrid="0">
      <p:cViewPr>
        <p:scale>
          <a:sx n="86" d="100"/>
          <a:sy n="86" d="100"/>
        </p:scale>
        <p:origin x="1832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CF464-E68D-9C46-A7D9-580053733E3C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32951-2925-284B-A420-8638F4371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186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  <a:p>
            <a:r>
              <a:rPr lang="en-US" dirty="0"/>
              <a:t> - Works well with mixed data</a:t>
            </a:r>
          </a:p>
          <a:p>
            <a:endParaRPr lang="en-US" dirty="0"/>
          </a:p>
          <a:p>
            <a:r>
              <a:rPr lang="en-US" dirty="0"/>
              <a:t>Gradient Boosting</a:t>
            </a:r>
          </a:p>
          <a:p>
            <a:r>
              <a:rPr lang="en-US" dirty="0"/>
              <a:t> - builds tress one after another, correcting mistakes made</a:t>
            </a:r>
          </a:p>
          <a:p>
            <a:r>
              <a:rPr lang="en-US" dirty="0"/>
              <a:t> - High accuracy </a:t>
            </a:r>
          </a:p>
          <a:p>
            <a:r>
              <a:rPr lang="en-US" dirty="0"/>
              <a:t> - able to capture small interactions between multiple variables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32951-2925-284B-A420-8638F4371AA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597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32951-2925-284B-A420-8638F4371AA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249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4/27/26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3965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849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067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8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095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02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102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4/27/26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319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941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697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76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897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5" r:id="rId6"/>
    <p:sldLayoutId id="2147483720" r:id="rId7"/>
    <p:sldLayoutId id="2147483721" r:id="rId8"/>
    <p:sldLayoutId id="2147483722" r:id="rId9"/>
    <p:sldLayoutId id="2147483724" r:id="rId10"/>
    <p:sldLayoutId id="21474837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Back view of an airplane">
            <a:extLst>
              <a:ext uri="{FF2B5EF4-FFF2-40B4-BE49-F238E27FC236}">
                <a16:creationId xmlns:a16="http://schemas.microsoft.com/office/drawing/2014/main" id="{5BCCEB13-CF5E-0FC4-E84C-9201D2CE65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7" r="13830" b="-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1EA913-131D-4372-3B08-6B2631BA3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en-US" sz="4800" dirty="0"/>
              <a:t>Predictive Analysis of US Flight Delays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C436DC-346A-53C3-4415-59333AACC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r>
              <a:rPr lang="en-US" sz="2000" dirty="0"/>
              <a:t>Brandon Boyle</a:t>
            </a:r>
          </a:p>
          <a:p>
            <a:r>
              <a:rPr lang="en-US" sz="2000" dirty="0"/>
              <a:t>20 Jan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3719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 view of an airplane">
            <a:extLst>
              <a:ext uri="{FF2B5EF4-FFF2-40B4-BE49-F238E27FC236}">
                <a16:creationId xmlns:a16="http://schemas.microsoft.com/office/drawing/2014/main" id="{BEA51CD0-EA1D-82D9-7543-F413B89A28C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rcRect t="13659" b="207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D4C7EE-808C-5B86-5769-156DA0E76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D661C-3F9E-E3F5-A6CB-4FBF7F315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  <a:p>
            <a:pPr lvl="1"/>
            <a:r>
              <a:rPr lang="en-US" dirty="0"/>
              <a:t>Flight delays disrupts passenger travel and airlines operation cost</a:t>
            </a:r>
          </a:p>
          <a:p>
            <a:r>
              <a:rPr lang="en-US" dirty="0"/>
              <a:t>Objective</a:t>
            </a:r>
          </a:p>
          <a:p>
            <a:pPr lvl="1"/>
            <a:r>
              <a:rPr lang="en-US" dirty="0"/>
              <a:t>Use historical data to predict if a flight will be delayed</a:t>
            </a:r>
          </a:p>
          <a:p>
            <a:r>
              <a:rPr lang="en-US" dirty="0"/>
              <a:t>Proposed Solution</a:t>
            </a:r>
          </a:p>
          <a:p>
            <a:pPr lvl="1"/>
            <a:r>
              <a:rPr lang="en-US" dirty="0"/>
              <a:t>Use predictive modeling to estimate chances of delays</a:t>
            </a:r>
          </a:p>
          <a:p>
            <a:pPr lvl="1"/>
            <a:r>
              <a:rPr lang="en-US" dirty="0"/>
              <a:t>Based of multiple variables</a:t>
            </a:r>
          </a:p>
        </p:txBody>
      </p:sp>
    </p:spTree>
    <p:extLst>
      <p:ext uri="{BB962C8B-B14F-4D97-AF65-F5344CB8AC3E}">
        <p14:creationId xmlns:p14="http://schemas.microsoft.com/office/powerpoint/2010/main" val="3401453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 view of an airplane">
            <a:extLst>
              <a:ext uri="{FF2B5EF4-FFF2-40B4-BE49-F238E27FC236}">
                <a16:creationId xmlns:a16="http://schemas.microsoft.com/office/drawing/2014/main" id="{62F30C6C-2E29-CB24-5A7E-C66D4CFEE69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rcRect t="13659" b="207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B0DC14-8A66-A54B-52EC-D282110F1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FF95D-B8E5-0D98-81AC-80BB690F3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Binary Outcome (Delayed or on-time)</a:t>
            </a:r>
          </a:p>
          <a:p>
            <a:r>
              <a:rPr lang="en-US" dirty="0"/>
              <a:t>Use variables like airline, route, day/time, etc.</a:t>
            </a:r>
          </a:p>
          <a:p>
            <a:r>
              <a:rPr lang="en-US" dirty="0"/>
              <a:t>Determine what factors lead to delays</a:t>
            </a:r>
          </a:p>
        </p:txBody>
      </p:sp>
    </p:spTree>
    <p:extLst>
      <p:ext uri="{BB962C8B-B14F-4D97-AF65-F5344CB8AC3E}">
        <p14:creationId xmlns:p14="http://schemas.microsoft.com/office/powerpoint/2010/main" val="3899897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 view of an airplane">
            <a:extLst>
              <a:ext uri="{FF2B5EF4-FFF2-40B4-BE49-F238E27FC236}">
                <a16:creationId xmlns:a16="http://schemas.microsoft.com/office/drawing/2014/main" id="{95E035E5-1F4A-0343-CB1C-5EAC4D6A1C7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rcRect t="13659" b="207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AC727C-59F6-E938-A896-91EB47227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41D0F-B06A-AF41-5503-A57EDA6C8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Bureau of Transportation Statistics</a:t>
            </a:r>
          </a:p>
          <a:p>
            <a:pPr lvl="1"/>
            <a:r>
              <a:rPr lang="en-US" dirty="0"/>
              <a:t>U.S. Department of Transportation</a:t>
            </a:r>
          </a:p>
          <a:p>
            <a:r>
              <a:rPr lang="en-US" dirty="0"/>
              <a:t>December 2024</a:t>
            </a:r>
          </a:p>
          <a:p>
            <a:r>
              <a:rPr lang="en-US" dirty="0"/>
              <a:t>Over 600k rows</a:t>
            </a:r>
          </a:p>
          <a:p>
            <a:r>
              <a:rPr lang="en-US" dirty="0"/>
              <a:t>10 variables </a:t>
            </a:r>
          </a:p>
        </p:txBody>
      </p:sp>
    </p:spTree>
    <p:extLst>
      <p:ext uri="{BB962C8B-B14F-4D97-AF65-F5344CB8AC3E}">
        <p14:creationId xmlns:p14="http://schemas.microsoft.com/office/powerpoint/2010/main" val="4048439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 view of an airplane">
            <a:extLst>
              <a:ext uri="{FF2B5EF4-FFF2-40B4-BE49-F238E27FC236}">
                <a16:creationId xmlns:a16="http://schemas.microsoft.com/office/drawing/2014/main" id="{BBE0123A-9F37-4F21-94F5-A35BBF4C036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rcRect t="13659" b="207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34F47E-6BF6-6AFA-8CA3-C4B378E08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Predictive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2FCC9-76D6-3851-0746-E03AD834C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 Forest Model</a:t>
            </a:r>
          </a:p>
          <a:p>
            <a:pPr lvl="1"/>
            <a:r>
              <a:rPr lang="en-US" dirty="0"/>
              <a:t>Combination of many decision trees</a:t>
            </a:r>
          </a:p>
          <a:p>
            <a:r>
              <a:rPr lang="en-US" dirty="0"/>
              <a:t>Gradient Boosting</a:t>
            </a:r>
          </a:p>
          <a:p>
            <a:pPr lvl="1"/>
            <a:r>
              <a:rPr lang="en-US" dirty="0"/>
              <a:t>Trees are weighted and made sequentially </a:t>
            </a:r>
          </a:p>
          <a:p>
            <a:r>
              <a:rPr lang="en-US" dirty="0"/>
              <a:t>Support Vector Machine </a:t>
            </a:r>
          </a:p>
          <a:p>
            <a:pPr lvl="1"/>
            <a:r>
              <a:rPr lang="en-US" dirty="0"/>
              <a:t>Handles marginal relations or finds</a:t>
            </a:r>
          </a:p>
        </p:txBody>
      </p:sp>
    </p:spTree>
    <p:extLst>
      <p:ext uri="{BB962C8B-B14F-4D97-AF65-F5344CB8AC3E}">
        <p14:creationId xmlns:p14="http://schemas.microsoft.com/office/powerpoint/2010/main" val="2125418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 view of an airplane">
            <a:extLst>
              <a:ext uri="{FF2B5EF4-FFF2-40B4-BE49-F238E27FC236}">
                <a16:creationId xmlns:a16="http://schemas.microsoft.com/office/drawing/2014/main" id="{CA255176-5444-8871-C9C4-ACF52A14317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rcRect t="13659" b="2071"/>
          <a:stretch>
            <a:fillRect/>
          </a:stretch>
        </p:blipFill>
        <p:spPr>
          <a:xfrm>
            <a:off x="20" y="10"/>
            <a:ext cx="1219199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A5C682-CF2D-1439-F765-D7129D9A7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1FF0F-CD74-F9A1-039F-901225101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DB2343-B6A3-53AD-1D46-B984B474A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3210" y="1702905"/>
            <a:ext cx="7405580" cy="496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012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 view of an airplane">
            <a:extLst>
              <a:ext uri="{FF2B5EF4-FFF2-40B4-BE49-F238E27FC236}">
                <a16:creationId xmlns:a16="http://schemas.microsoft.com/office/drawing/2014/main" id="{905ADDFD-AAA4-10FF-1172-D7E5588D18A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rcRect t="13659" b="2071"/>
          <a:stretch>
            <a:fillRect/>
          </a:stretch>
        </p:blipFill>
        <p:spPr>
          <a:xfrm>
            <a:off x="20" y="10"/>
            <a:ext cx="1219199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62E3CF-CAFA-612F-972A-F5417DDBC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6C851-0158-B312-006A-D976F1752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813CA1-1ABD-CBDC-06D5-15BA455B9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6656" y="1728216"/>
            <a:ext cx="8378687" cy="4940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094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 view of an airplane">
            <a:extLst>
              <a:ext uri="{FF2B5EF4-FFF2-40B4-BE49-F238E27FC236}">
                <a16:creationId xmlns:a16="http://schemas.microsoft.com/office/drawing/2014/main" id="{3A0C1DB3-CF9C-ED34-0785-5B0F9EC53FA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rcRect t="13659" b="2071"/>
          <a:stretch>
            <a:fillRect/>
          </a:stretch>
        </p:blipFill>
        <p:spPr>
          <a:xfrm>
            <a:off x="20" y="10"/>
            <a:ext cx="1219199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EF6B43-DF90-D009-8B66-66AA93925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</a:t>
            </a:r>
          </a:p>
        </p:txBody>
      </p:sp>
      <p:pic>
        <p:nvPicPr>
          <p:cNvPr id="4" name="Picture 3" descr="A graph with blue lines&#10;&#10;Description automatically generated">
            <a:extLst>
              <a:ext uri="{FF2B5EF4-FFF2-40B4-BE49-F238E27FC236}">
                <a16:creationId xmlns:a16="http://schemas.microsoft.com/office/drawing/2014/main" id="{9DC1AE0B-9E7B-5DF2-FCCF-185CC2F2A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842" y="1728216"/>
            <a:ext cx="5754158" cy="5199143"/>
          </a:xfrm>
          <a:prstGeom prst="rect">
            <a:avLst/>
          </a:prstGeom>
        </p:spPr>
      </p:pic>
      <p:pic>
        <p:nvPicPr>
          <p:cNvPr id="6" name="Content Placeholder 5" descr="A screen shot of a chart&#10;&#10;Description automatically generated">
            <a:extLst>
              <a:ext uri="{FF2B5EF4-FFF2-40B4-BE49-F238E27FC236}">
                <a16:creationId xmlns:a16="http://schemas.microsoft.com/office/drawing/2014/main" id="{C941172D-7B8E-AF36-E1D7-9B8C5E6B24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-4443" y="2793060"/>
            <a:ext cx="6442267" cy="273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164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 view of an airplane">
            <a:extLst>
              <a:ext uri="{FF2B5EF4-FFF2-40B4-BE49-F238E27FC236}">
                <a16:creationId xmlns:a16="http://schemas.microsoft.com/office/drawing/2014/main" id="{6902871F-951F-4D05-D833-497D2D00BB9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rcRect t="13659" b="2071"/>
          <a:stretch>
            <a:fillRect/>
          </a:stretch>
        </p:blipFill>
        <p:spPr>
          <a:xfrm>
            <a:off x="20" y="10"/>
            <a:ext cx="1219199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010920-20E7-6EE7-ED60-0C42B3FC8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Boosting – 1 minute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F4E43-7E2A-B04F-583B-779FF2239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940D3D-40B4-F8D4-2EEB-A479D10DC5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32" y="2710186"/>
            <a:ext cx="6247177" cy="21798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BD9DBE-069F-D118-9EF6-BE8359A455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6544" y="1637046"/>
            <a:ext cx="5945435" cy="5220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169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 view of an airplane">
            <a:extLst>
              <a:ext uri="{FF2B5EF4-FFF2-40B4-BE49-F238E27FC236}">
                <a16:creationId xmlns:a16="http://schemas.microsoft.com/office/drawing/2014/main" id="{E40020BF-87EF-A93F-50AC-814E5A4CD69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rcRect t="13659" b="2071"/>
          <a:stretch>
            <a:fillRect/>
          </a:stretch>
        </p:blipFill>
        <p:spPr>
          <a:xfrm>
            <a:off x="20" y="10"/>
            <a:ext cx="1219199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70145D-ABCE-651A-5284-6DC9FA61C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EE013-24C6-D7D3-28EA-CFDA188ED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2E36CB-AD3E-B9EF-9E8B-31BEE4394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621365"/>
            <a:ext cx="7477539" cy="523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702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 view of an airplane">
            <a:extLst>
              <a:ext uri="{FF2B5EF4-FFF2-40B4-BE49-F238E27FC236}">
                <a16:creationId xmlns:a16="http://schemas.microsoft.com/office/drawing/2014/main" id="{63518627-085A-15F3-25B8-8A785ED947B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rcRect t="13659" b="2071"/>
          <a:stretch>
            <a:fillRect/>
          </a:stretch>
        </p:blipFill>
        <p:spPr>
          <a:xfrm>
            <a:off x="20" y="10"/>
            <a:ext cx="1219199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BA9737-EBBD-AB06-F20E-16F10C1A1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Boosting – 15 Minutes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0A977-1CE9-3BCD-12C6-2F81F1636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9FBC5E-2F3D-CC5C-94B0-0E68D7318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20455"/>
            <a:ext cx="6324542" cy="22450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750286-C294-08E7-E303-9B5AC7510C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580" y="1796375"/>
            <a:ext cx="5867400" cy="506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323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 view of an airplane">
            <a:extLst>
              <a:ext uri="{FF2B5EF4-FFF2-40B4-BE49-F238E27FC236}">
                <a16:creationId xmlns:a16="http://schemas.microsoft.com/office/drawing/2014/main" id="{D2372151-EAFB-B433-E05F-EDC66BEE431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rcRect t="13659" b="2071"/>
          <a:stretch>
            <a:fillRect/>
          </a:stretch>
        </p:blipFill>
        <p:spPr>
          <a:xfrm>
            <a:off x="20" y="10"/>
            <a:ext cx="1219199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D5C897-6F98-49D5-B8C6-BDA68871A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CA000-6511-7038-0165-E1C0C0E09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5DBECD-CC4C-69CC-DDCE-D9351CAFD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34398"/>
            <a:ext cx="6096000" cy="47236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251610-56BC-8086-E660-B970514859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616" y="2134388"/>
            <a:ext cx="6001383" cy="4723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169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 view of an airplane">
            <a:extLst>
              <a:ext uri="{FF2B5EF4-FFF2-40B4-BE49-F238E27FC236}">
                <a16:creationId xmlns:a16="http://schemas.microsoft.com/office/drawing/2014/main" id="{F5F96BAB-DE87-CFC7-F894-E27BA443DCC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rcRect t="13659" b="2071"/>
          <a:stretch>
            <a:fillRect/>
          </a:stretch>
        </p:blipFill>
        <p:spPr>
          <a:xfrm>
            <a:off x="20" y="10"/>
            <a:ext cx="1219199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57AE77-FBC9-D48E-3944-43252B6AC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Machine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86064-65EA-6E92-F539-07BC789C7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A83EBA-A6A6-7F7F-0B4B-FFF737B47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907792"/>
            <a:ext cx="6316781" cy="22054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A94538-8CE7-7AA2-13D5-9EBD8AC991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1912" y="1728216"/>
            <a:ext cx="5950087" cy="512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4778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 view of an airplane">
            <a:extLst>
              <a:ext uri="{FF2B5EF4-FFF2-40B4-BE49-F238E27FC236}">
                <a16:creationId xmlns:a16="http://schemas.microsoft.com/office/drawing/2014/main" id="{5E5121BE-FEFA-0064-A572-D7A81FE6515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rcRect t="13659" b="2071"/>
          <a:stretch>
            <a:fillRect/>
          </a:stretch>
        </p:blipFill>
        <p:spPr>
          <a:xfrm>
            <a:off x="20" y="10"/>
            <a:ext cx="1219199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78EEE4-CD0E-5308-A5EE-5DFFCD9A8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E8C87-AA06-46F7-CEA3-5140B8660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Influences: Departure time, airline, scheduling pattern</a:t>
            </a:r>
          </a:p>
          <a:p>
            <a:r>
              <a:rPr lang="en-US" dirty="0"/>
              <a:t>Delays increase throughout the day</a:t>
            </a:r>
          </a:p>
          <a:p>
            <a:r>
              <a:rPr lang="en-US" dirty="0"/>
              <a:t>Definition of delay changes a lot</a:t>
            </a:r>
          </a:p>
          <a:p>
            <a:r>
              <a:rPr lang="en-US" dirty="0"/>
              <a:t>Random Forest was most accurate but missed most delays</a:t>
            </a:r>
          </a:p>
          <a:p>
            <a:r>
              <a:rPr lang="en-US" dirty="0"/>
              <a:t>Gradient Boosting 15min caught the most delays</a:t>
            </a:r>
          </a:p>
          <a:p>
            <a:r>
              <a:rPr lang="en-US" dirty="0"/>
              <a:t>SVM was the most balanced</a:t>
            </a:r>
          </a:p>
          <a:p>
            <a:r>
              <a:rPr lang="en-US" dirty="0"/>
              <a:t>Real word detecting delays is the most important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698685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235</Words>
  <Application>Microsoft Macintosh PowerPoint</Application>
  <PresentationFormat>Widescreen</PresentationFormat>
  <Paragraphs>53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Neue Haas Grotesk Text Pro</vt:lpstr>
      <vt:lpstr>AccentBoxVTI</vt:lpstr>
      <vt:lpstr>Predictive Analysis of US Flight Delays</vt:lpstr>
      <vt:lpstr>Overview</vt:lpstr>
      <vt:lpstr>Project Idea</vt:lpstr>
      <vt:lpstr>The Dataset</vt:lpstr>
      <vt:lpstr>Predictive Models</vt:lpstr>
      <vt:lpstr>Random Forest</vt:lpstr>
      <vt:lpstr>Key Findings</vt:lpstr>
      <vt:lpstr>Cont.</vt:lpstr>
      <vt:lpstr>Gradient Boosting – 1 minute</vt:lpstr>
      <vt:lpstr>Key Findings</vt:lpstr>
      <vt:lpstr>Gradient Boosting – 15 Minutes</vt:lpstr>
      <vt:lpstr>Key Findings</vt:lpstr>
      <vt:lpstr>Support Vector Machine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Brandon M. Boyle</dc:creator>
  <cp:lastModifiedBy>Brandon M. Boyle</cp:lastModifiedBy>
  <cp:revision>2</cp:revision>
  <dcterms:created xsi:type="dcterms:W3CDTF">2026-01-20T01:07:23Z</dcterms:created>
  <dcterms:modified xsi:type="dcterms:W3CDTF">2026-04-28T00:25:23Z</dcterms:modified>
</cp:coreProperties>
</file>